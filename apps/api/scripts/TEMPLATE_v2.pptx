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4748B"/>
                </a:solidFill>
              </a:rPr>
              <a:t>Verduurzamingsplan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6A34A"/>
                </a:solidFill>
              </a:rPr>
              <a:t>{{context.club.naam}}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532D"/>
                </a:solidFill>
              </a:rPr>
              <a:t>Opgesteld voor: {{context.club.naam}}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</a:rPr>
              <a:t>Sportief Opgewekt · Snelgescand.nl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6A34A"/>
                </a:solidFill>
              </a:rPr>
              <a:t>Uitgangspunten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4748B"/>
                </a:solidFill>
              </a:rPr>
              <a:t>Bouwjaar clubhuis: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4532D"/>
                </a:solidFill>
              </a:rPr>
              <a:t>{{context.gebouw.bouwjaar}}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4748B"/>
                </a:solidFill>
              </a:rPr>
              <a:t>Bruto vloeroppervlak: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920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4532D"/>
                </a:solidFill>
              </a:rPr>
              <a:t>{{context.gebouw.bvoTotaalM2 | int}} m²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4748B"/>
                </a:solidFill>
              </a:rPr>
              <a:t>Gasverbruik per jaar: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468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4532D"/>
                </a:solidFill>
              </a:rPr>
              <a:t>{{context.energie.gasverbruikM3 | m3}}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4748B"/>
                </a:solidFill>
              </a:rPr>
              <a:t>Stroomverbruik per jaar: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017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4532D"/>
                </a:solidFill>
              </a:rPr>
              <a:t>{{context.energie.stroomverbruikTotaalKwh | kwh}}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6A34A"/>
                </a:solidFill>
              </a:rPr>
              <a:t>Voor de penningmeester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4748B"/>
                </a:solidFill>
              </a:rPr>
              <a:t>Bruto investering: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4532D"/>
                </a:solidFill>
              </a:rPr>
              <a:t>{{rollup.totaleInvestering | euro}}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4748B"/>
                </a:solidFill>
              </a:rPr>
              <a:t>Totale subsidies: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011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4532D"/>
                </a:solidFill>
              </a:rPr>
              <a:t>{{rollup.totaleSubsidie | euro}}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4748B"/>
                </a:solidFill>
              </a:rPr>
              <a:t>Netto investering: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651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6A34A"/>
                </a:solidFill>
              </a:rPr>
              <a:t>{{rollup.nettoInvestering | euro}}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74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4748B"/>
                </a:solidFill>
              </a:rPr>
              <a:t>Besparing per jaar: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3474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4532D"/>
                </a:solidFill>
              </a:rPr>
              <a:t>{{rollup.totaleBesparingPerJaar | euro}}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14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4748B"/>
                </a:solidFill>
              </a:rPr>
              <a:t>Gemiddelde terugverdientijd: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4114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4532D"/>
                </a:solidFill>
              </a:rPr>
              <a:t>{{rollup.gemiddeldeTerugverdientijdJaren | jaren}}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54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4748B"/>
                </a:solidFill>
              </a:rPr>
              <a:t>CO₂-besparing: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4754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4532D"/>
                </a:solidFill>
              </a:rPr>
              <a:t>{{rollup.totaleCo2BesparingKg | ton}}/jaar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A34A"/>
                </a:solidFill>
              </a:rPr>
              <a:t>Maatregel uitgelicht: dakisolatie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4748B"/>
                </a:solidFill>
              </a:rPr>
              <a:t>Bruto investering: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4532D"/>
                </a:solidFill>
              </a:rPr>
              <a:t>{{maatregel.dakisolatie.brutoInvestering | euro}}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4748B"/>
                </a:solidFill>
              </a:rPr>
              <a:t>Subsidie: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920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4532D"/>
                </a:solidFill>
              </a:rPr>
              <a:t>{{maatregel.dakisolatie.totaleSubsidie | euro}}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4748B"/>
                </a:solidFill>
              </a:rPr>
              <a:t>Besparing per jaar: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468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4532D"/>
                </a:solidFill>
              </a:rPr>
              <a:t>{{maatregel.dakisolatie.besparingPerJaar | euro}}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4748B"/>
                </a:solidFill>
              </a:rPr>
              <a:t>Terugverdientijd: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017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4532D"/>
                </a:solidFill>
              </a:rPr>
              <a:t>{{maatregel.dakisolatie.terugverdientijdJaren | jaren}}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